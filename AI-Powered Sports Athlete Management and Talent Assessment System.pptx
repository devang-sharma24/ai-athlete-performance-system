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6" r:id="rId9"/>
    <p:sldId id="262" r:id="rId10"/>
    <p:sldId id="265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34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67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51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146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92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446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203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17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8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4578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717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7258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168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453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601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2D069-83E3-4558-8E2E-9BF5D9FA4B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CA67832-CF26-4A6A-9543-C0EFD8817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025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lite" TargetMode="External"/><Relationship Id="rId2" Type="http://schemas.openxmlformats.org/officeDocument/2006/relationships/hyperlink" Target="https://pmc.ncbi.nlm.nih.gov/articles/PMC11723022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1902.00147?utm_source=chatgpt.com" TargetMode="External"/><Relationship Id="rId4" Type="http://schemas.openxmlformats.org/officeDocument/2006/relationships/hyperlink" Target="https://arxiv.org/abs/1902.00147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28279-E6FE-701B-215C-D25593DC2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808" y="2688085"/>
            <a:ext cx="10452560" cy="167038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gency FB" panose="020B0503020202020204" pitchFamily="34" charset="0"/>
              </a:rPr>
              <a:t>AI-Powered Sports Athlete Management and Talent Assessment System</a:t>
            </a: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FE86F-6886-0A5F-36B2-62079518E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9362" y="1605306"/>
            <a:ext cx="8915399" cy="1126283"/>
          </a:xfrm>
        </p:spPr>
        <p:txBody>
          <a:bodyPr/>
          <a:lstStyle/>
          <a:p>
            <a:r>
              <a:rPr lang="en-US" sz="2400" dirty="0"/>
              <a:t>         School of Computer Science and Engineering</a:t>
            </a:r>
          </a:p>
          <a:p>
            <a:r>
              <a:rPr lang="en-US" sz="2400" dirty="0"/>
              <a:t>      Department of Computer Science and Engineering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9E56D-9763-D690-B342-1AA440BCC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9" y="37678"/>
            <a:ext cx="4753638" cy="1438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D6AFD8-8362-B88C-8ECF-2EE1C8102DDD}"/>
              </a:ext>
            </a:extLst>
          </p:cNvPr>
          <p:cNvSpPr txBox="1"/>
          <p:nvPr/>
        </p:nvSpPr>
        <p:spPr>
          <a:xfrm>
            <a:off x="1868129" y="4427299"/>
            <a:ext cx="3352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Submitted By :</a:t>
            </a:r>
          </a:p>
          <a:p>
            <a:endParaRPr lang="en-US" sz="2000" dirty="0"/>
          </a:p>
          <a:p>
            <a:r>
              <a:rPr lang="en-IN" sz="2000" dirty="0"/>
              <a:t>Devang Sharma </a:t>
            </a:r>
          </a:p>
          <a:p>
            <a:r>
              <a:rPr lang="en-IN" sz="2000" dirty="0"/>
              <a:t>2427030731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C02616-2C65-8D1C-BFE1-2F870ED28E4A}"/>
              </a:ext>
            </a:extLst>
          </p:cNvPr>
          <p:cNvSpPr txBox="1"/>
          <p:nvPr/>
        </p:nvSpPr>
        <p:spPr>
          <a:xfrm>
            <a:off x="8003459" y="4562167"/>
            <a:ext cx="38919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Supervised by:</a:t>
            </a:r>
          </a:p>
          <a:p>
            <a:endParaRPr lang="en-US" sz="2000" dirty="0"/>
          </a:p>
          <a:p>
            <a:r>
              <a:rPr lang="en-US" sz="2000" dirty="0"/>
              <a:t>Mayank Namdev </a:t>
            </a:r>
          </a:p>
        </p:txBody>
      </p:sp>
    </p:spTree>
    <p:extLst>
      <p:ext uri="{BB962C8B-B14F-4D97-AF65-F5344CB8AC3E}">
        <p14:creationId xmlns:p14="http://schemas.microsoft.com/office/powerpoint/2010/main" val="3452980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C4AEC-71CA-B00E-1981-7AD39D3A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gency FB" panose="020B0503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D8EB0-9DA8-1FE6-D775-78C5653F8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N" sz="3200" b="1" dirty="0">
                <a:latin typeface="Abadi Extra Light" panose="020B0204020104020204" pitchFamily="34" charset="0"/>
              </a:rPr>
              <a:t>Introduction</a:t>
            </a:r>
          </a:p>
          <a:p>
            <a:pPr>
              <a:buFont typeface="+mj-lt"/>
              <a:buAutoNum type="arabicPeriod"/>
            </a:pPr>
            <a:r>
              <a:rPr lang="en-IN" sz="3200" b="1" dirty="0">
                <a:latin typeface="Abadi Extra Light" panose="020B0204020104020204" pitchFamily="34" charset="0"/>
              </a:rPr>
              <a:t>Literature Review</a:t>
            </a:r>
          </a:p>
          <a:p>
            <a:pPr>
              <a:buFont typeface="+mj-lt"/>
              <a:buAutoNum type="arabicPeriod"/>
            </a:pPr>
            <a:r>
              <a:rPr lang="en-IN" sz="3200" b="1" dirty="0">
                <a:latin typeface="Abadi Extra Light" panose="020B0204020104020204" pitchFamily="34" charset="0"/>
              </a:rPr>
              <a:t>Problem Statement</a:t>
            </a:r>
          </a:p>
          <a:p>
            <a:pPr>
              <a:buFont typeface="+mj-lt"/>
              <a:buAutoNum type="arabicPeriod"/>
            </a:pPr>
            <a:r>
              <a:rPr lang="en-IN" sz="3200" b="1" dirty="0">
                <a:latin typeface="Abadi Extra Light" panose="020B0204020104020204" pitchFamily="34" charset="0"/>
              </a:rPr>
              <a:t>Proposed Solution</a:t>
            </a:r>
          </a:p>
          <a:p>
            <a:pPr>
              <a:buFont typeface="+mj-lt"/>
              <a:buAutoNum type="arabicPeriod"/>
            </a:pPr>
            <a:r>
              <a:rPr lang="en-IN" sz="3200" b="1" dirty="0">
                <a:latin typeface="Abadi Extra Light" panose="020B0204020104020204" pitchFamily="34" charset="0"/>
              </a:rPr>
              <a:t>Objectives</a:t>
            </a:r>
          </a:p>
          <a:p>
            <a:pPr>
              <a:buFont typeface="+mj-lt"/>
              <a:buAutoNum type="arabicPeriod"/>
            </a:pPr>
            <a:r>
              <a:rPr lang="en-IN" sz="3200" b="1" dirty="0">
                <a:latin typeface="Abadi Extra Light" panose="020B0204020104020204" pitchFamily="34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857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CA82-3787-DAB0-D0F8-395F64289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298" y="201322"/>
            <a:ext cx="8911687" cy="1280890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gency FB" panose="020B0503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DF7BB-0AD4-8F58-FC6B-94B43B9EA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1720644"/>
            <a:ext cx="11150651" cy="4837471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Abadi" panose="020B0604020104020204" pitchFamily="34" charset="0"/>
              </a:rPr>
              <a:t>India’s sporting potential is immense, yet a large segment of rural talent remains unnoticed due to lack of access to modern facilities and evaluators.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Abadi" panose="020B0604020104020204" pitchFamily="34" charset="0"/>
              </a:rPr>
              <a:t>The need for a fair, accessible, and standardized evaluation system is greater than ever to ensure equal opportunities for all aspiring athletes.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Abadi" panose="020B0604020104020204" pitchFamily="34" charset="0"/>
              </a:rPr>
              <a:t>Digital transformation and artificial intelligence together can bring a revolutionary shift in how athletic abilities are recognized and nurtured.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Abadi" panose="020B0604020104020204" pitchFamily="34" charset="0"/>
              </a:rPr>
              <a:t>This project proposes an AI based solution that bridges the gap between athletes and national-level recognition, using smart video analytics for talent assessment.</a:t>
            </a:r>
            <a:endParaRPr lang="en-IN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07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0708-15BD-A18F-431C-F4800D3CD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267" y="240653"/>
            <a:ext cx="8911687" cy="1280890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gency FB" panose="020B0503020202020204" pitchFamily="34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AC0C8-1AF2-9CD4-9563-0281C7502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1" y="1769806"/>
            <a:ext cx="10993335" cy="4788310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Abadi" panose="020B0604020104020204" pitchFamily="34" charset="0"/>
              </a:rPr>
              <a:t>Conventional talent scouting methods rely heavily on manual observation and physical presence, making them time-consuming and biased.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Abadi" panose="020B0604020104020204" pitchFamily="34" charset="0"/>
              </a:rPr>
              <a:t>Research highlights that AI-based motion tracking and pose estimation can precisely measure parameters like agility, jump height, and reaction time.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Abadi" panose="020B0604020104020204" pitchFamily="34" charset="0"/>
              </a:rPr>
              <a:t>Several international models employ sensor-based systems; however, these require expensive setups unsuitable for mass usage in India.</a:t>
            </a:r>
          </a:p>
        </p:txBody>
      </p:sp>
    </p:spTree>
    <p:extLst>
      <p:ext uri="{BB962C8B-B14F-4D97-AF65-F5344CB8AC3E}">
        <p14:creationId xmlns:p14="http://schemas.microsoft.com/office/powerpoint/2010/main" val="139240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611F-62F1-24D5-843C-EADF1B37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648" y="306333"/>
            <a:ext cx="8911687" cy="1280890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gency FB" panose="020B0503020202020204" pitchFamily="34" charset="0"/>
              </a:rPr>
              <a:t>Literature Review</a:t>
            </a:r>
            <a:endParaRPr lang="en-IN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36182-92E9-D1A4-71EC-98D73656F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4" y="1720646"/>
            <a:ext cx="10157593" cy="3777622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Abadi" panose="020B0604020104020204" pitchFamily="34" charset="0"/>
              </a:rPr>
              <a:t>Mobile-integrated AI analysis eliminates dependency on hardware sensors while providing accurate, scalable, and low-cost evaluations.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Abadi" panose="020B0604020104020204" pitchFamily="34" charset="0"/>
              </a:rPr>
              <a:t>Studies also indicate that gamified feedback increases engagement and consistency in athlete performance tracking</a:t>
            </a:r>
            <a:endParaRPr lang="en-IN" sz="3200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332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763D-AF47-F496-E5B5-FF5468CB7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Agency FB" panose="020B0503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D96AD-8629-861A-37A5-483246365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574" y="2635046"/>
            <a:ext cx="11071122" cy="1875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latin typeface="Aptos Narrow" panose="020B0004020202020204" pitchFamily="34" charset="0"/>
              </a:rPr>
              <a:t>To develop an AI-driven mobile platform capable of analyzing athletes' performance videos, verifying their authenticity, and generating scientific assessment results accessible to both athletes and sports authorities</a:t>
            </a:r>
            <a:endParaRPr lang="en-IN" sz="3200" b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967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1E8C-D2AD-5D33-2FBD-26DFF3662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640" y="171828"/>
            <a:ext cx="8911687" cy="1280890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gency FB" panose="020B0503020202020204" pitchFamily="34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02F72-1A9D-BEEB-5667-4AD18FB75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587" y="1678857"/>
            <a:ext cx="11464413" cy="5503607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Abadi" panose="020B0604020104020204" pitchFamily="34" charset="0"/>
              </a:rPr>
              <a:t>Athlete Interaction: </a:t>
            </a:r>
            <a:r>
              <a:rPr lang="en-US" sz="3200" b="1" dirty="0">
                <a:latin typeface="Abadi Extra Light" panose="020B0204020104020204" pitchFamily="34" charset="0"/>
              </a:rPr>
              <a:t>Users register and record videos performing standard fitness tests like sprinting, jumping, or sit-ups.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Abadi" panose="020B0604020104020204" pitchFamily="34" charset="0"/>
              </a:rPr>
              <a:t>AI Video Analysis: </a:t>
            </a:r>
            <a:r>
              <a:rPr lang="en-US" sz="3200" b="1" dirty="0">
                <a:latin typeface="Abadi Extra Light" panose="020B0204020104020204" pitchFamily="34" charset="0"/>
              </a:rPr>
              <a:t>Machine learning models extract measurable data such as speed, distance, posture accuracy, and endurance from the uploaded clips.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b="1" dirty="0">
                <a:latin typeface="Abadi" panose="020B0604020104020204" pitchFamily="34" charset="0"/>
              </a:rPr>
              <a:t>Cheat and Authenticity Detection: </a:t>
            </a:r>
            <a:r>
              <a:rPr lang="en-US" sz="3200" b="1" dirty="0">
                <a:latin typeface="Abadi Extra Light" panose="020B0204020104020204" pitchFamily="34" charset="0"/>
              </a:rPr>
              <a:t>The system uses AI to identify tampering, irregular angles, or falsified videos, ensuring credibility and fairness.</a:t>
            </a:r>
          </a:p>
        </p:txBody>
      </p:sp>
    </p:spTree>
    <p:extLst>
      <p:ext uri="{BB962C8B-B14F-4D97-AF65-F5344CB8AC3E}">
        <p14:creationId xmlns:p14="http://schemas.microsoft.com/office/powerpoint/2010/main" val="252468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0EF50-29F3-41AA-5F00-8E00994F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512" y="309478"/>
            <a:ext cx="8911687" cy="1280890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gency FB" panose="020B0503020202020204" pitchFamily="34" charset="0"/>
              </a:rPr>
              <a:t>Proposed Solution</a:t>
            </a:r>
            <a:endParaRPr lang="en-IN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FE539-D683-A7BD-F31D-FB241815F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39" y="1691149"/>
            <a:ext cx="10806522" cy="472440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Abadi" panose="020B0604020104020204" pitchFamily="34" charset="0"/>
              </a:rPr>
              <a:t>Benchmark Comparison: </a:t>
            </a:r>
            <a:r>
              <a:rPr lang="en-US" sz="2800" b="1" dirty="0">
                <a:latin typeface="Abadi Extra Light" panose="020B0204020104020204" pitchFamily="34" charset="0"/>
              </a:rPr>
              <a:t>Each performance is evaluated against predefined benchmarks categorized by age and gender to determine percentile ranks.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Abadi" panose="020B0604020104020204" pitchFamily="34" charset="0"/>
              </a:rPr>
              <a:t>Data Transmission and Dashboard: </a:t>
            </a:r>
            <a:r>
              <a:rPr lang="en-US" sz="2800" b="1" dirty="0">
                <a:latin typeface="Abadi Extra Light" panose="020B0204020104020204" pitchFamily="34" charset="0"/>
              </a:rPr>
              <a:t>Verified results are uploaded securely to the SAI database, where officials can review insights, rankings, and analytics on an integrated dashboard.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b="1" dirty="0">
                <a:latin typeface="Abadi" panose="020B0604020104020204" pitchFamily="34" charset="0"/>
              </a:rPr>
              <a:t>Gamified Experience</a:t>
            </a:r>
            <a:r>
              <a:rPr lang="en-US" sz="2800" b="1" dirty="0">
                <a:latin typeface="Abadi Extra Light" panose="020B0204020104020204" pitchFamily="34" charset="0"/>
              </a:rPr>
              <a:t>: The athlete receives instant visual feedback, badges for milestones, and personalized improvement recommendations.</a:t>
            </a:r>
            <a:endParaRPr lang="en-IN" sz="28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4759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48308-662D-85C3-8AE0-AF9F7CBC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492" y="131740"/>
            <a:ext cx="8911687" cy="1280890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gency FB" panose="020B0503020202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12326-4069-3ADA-4066-D39C04FA5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958" y="1412630"/>
            <a:ext cx="11666136" cy="5330651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Abadi" panose="020B0604020104020204" pitchFamily="34" charset="0"/>
              </a:rPr>
              <a:t>Establish a unified digital framework so all athletes are assessed using the same scientific parameters regardless of geography or access to facilities.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Abadi" panose="020B0604020104020204" pitchFamily="34" charset="0"/>
              </a:rPr>
              <a:t>Minimize human bias in talent selection by using verified AI analytics and secure performance data storage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Abadi" panose="020B0604020104020204" pitchFamily="34" charset="0"/>
              </a:rPr>
              <a:t>Maintain structured data records for each athlete to track growth, improvements, and eligibility for future programs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Abadi" panose="020B0604020104020204" pitchFamily="34" charset="0"/>
              </a:rPr>
              <a:t>Provide SAI and sports institutions with reliable analytics to design better training schemes and funding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910219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179C-A99F-707E-8919-457F37C94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834" y="250484"/>
            <a:ext cx="8911687" cy="1280890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gency FB" panose="020B0503020202020204" pitchFamily="34" charset="0"/>
              </a:rPr>
              <a:t>Objectives</a:t>
            </a:r>
            <a:endParaRPr lang="en-IN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5BA93-0C38-D409-6B49-A1872D2E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26" y="1740309"/>
            <a:ext cx="10482057" cy="4562168"/>
          </a:xfrm>
        </p:spPr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Abadi" panose="020B0604020104020204" pitchFamily="34" charset="0"/>
              </a:rPr>
              <a:t>Allow young athletes to be recognized early through measurable metrics rather than local reputation or limited exposure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Abadi" panose="020B0604020104020204" pitchFamily="34" charset="0"/>
              </a:rPr>
              <a:t>Introduce performance insights that guide athletes toward specific improvements and help them sustain long-term progress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latin typeface="Abadi" panose="020B0604020104020204" pitchFamily="34" charset="0"/>
              </a:rPr>
              <a:t>Bridge the gap between rural and urban athletes, ensuring equal opportunity through technology-based assessments</a:t>
            </a:r>
            <a:endParaRPr lang="en-IN" sz="3200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669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C08B7-6D92-4167-2449-BFE596B92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2653" y="309477"/>
            <a:ext cx="8911687" cy="1280890"/>
          </a:xfrm>
        </p:spPr>
        <p:txBody>
          <a:bodyPr>
            <a:normAutofit/>
          </a:bodyPr>
          <a:lstStyle/>
          <a:p>
            <a:r>
              <a:rPr lang="en-IN" sz="7200" dirty="0">
                <a:latin typeface="Agency FB" panose="020B0503020202020204" pitchFamily="34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07012D-6B17-7A3C-A621-C84A378C45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0419" y="1775624"/>
            <a:ext cx="1077615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Empowering the Sports Scientist with Artificial Intelligence </a:t>
            </a:r>
            <a:br>
              <a:rPr kumimoji="0" lang="en-US" altLang="en-US" sz="2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</a:br>
            <a:r>
              <a:rPr kumimoji="0" lang="en-US" altLang="en-US" sz="2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2"/>
              </a:rPr>
              <a:t>https://pmc.ncbi.nlm.nih.gov/articles/PMC11723022/</a:t>
            </a:r>
            <a:br>
              <a:rPr kumimoji="0" lang="en-US" altLang="en-US" sz="2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</a:br>
            <a:r>
              <a:rPr kumimoji="0" lang="en-US" altLang="en-US" sz="2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(Discusses how AI is advancing sports science and performance analysis) </a:t>
            </a:r>
            <a:r>
              <a:rPr kumimoji="0" lang="en-US" altLang="en-US" sz="2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hlinkClick r:id="rId2"/>
              </a:rPr>
              <a:t>PMC</a:t>
            </a:r>
            <a:endParaRPr kumimoji="0" lang="en-US" altLang="en-US" sz="2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sz="2400" dirty="0">
                <a:latin typeface="Abadi" panose="020B0604020104020204" pitchFamily="34" charset="0"/>
              </a:rPr>
              <a:t>TensorFlow Lite Documentation. (2024). Deploying Lightweight ML Models on Mobile Devices.</a:t>
            </a:r>
            <a:br>
              <a:rPr lang="en-US" sz="2400" dirty="0">
                <a:latin typeface="Abadi" panose="020B0604020104020204" pitchFamily="34" charset="0"/>
              </a:rPr>
            </a:br>
            <a:r>
              <a:rPr lang="en-US" sz="2400" dirty="0">
                <a:latin typeface="Abadi" panose="020B0604020104020204" pitchFamily="34" charset="0"/>
                <a:hlinkClick r:id="rId3"/>
              </a:rPr>
              <a:t>https://www.tensorflow.org/lite</a:t>
            </a:r>
            <a:endParaRPr lang="en-US" sz="2400" dirty="0">
              <a:latin typeface="Abadi" panose="020B0604020104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sz="2400" dirty="0">
                <a:latin typeface="Abadi" panose="020B0604020104020204" pitchFamily="34" charset="0"/>
              </a:rPr>
              <a:t>Towards Collaborative Intelligence Friendly Architectures for Deep Learning</a:t>
            </a:r>
            <a:br>
              <a:rPr lang="en-US" sz="2400" dirty="0">
                <a:latin typeface="Abadi" panose="020B0604020104020204" pitchFamily="34" charset="0"/>
              </a:rPr>
            </a:br>
            <a:r>
              <a:rPr lang="en-US" sz="2400" dirty="0">
                <a:latin typeface="Abadi" panose="020B0604020104020204" pitchFamily="34" charset="0"/>
                <a:hlinkClick r:id="rId4"/>
              </a:rPr>
              <a:t>https://arxiv.org/abs/1902.00147</a:t>
            </a:r>
            <a:endParaRPr lang="en-US" sz="2400" dirty="0">
              <a:latin typeface="Abadi" panose="020B0604020104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sz="2400" dirty="0">
                <a:latin typeface="Abadi" panose="020B0604020104020204" pitchFamily="34" charset="0"/>
              </a:rPr>
              <a:t>Proposes splitting deep model workloads between mobile device and cloud to reduce latency and data transfer. </a:t>
            </a:r>
            <a:r>
              <a:rPr lang="en-US" sz="2400" dirty="0" err="1">
                <a:latin typeface="Abadi" panose="020B0604020104020204" pitchFamily="34" charset="0"/>
                <a:hlinkClick r:id="rId5"/>
              </a:rPr>
              <a:t>arXiv</a:t>
            </a:r>
            <a:endParaRPr kumimoji="0" lang="en-US" altLang="en-US" sz="2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249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145F-CDEF-21FF-AF47-D8AFD665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1749" y="2788555"/>
            <a:ext cx="8645347" cy="1280890"/>
          </a:xfrm>
        </p:spPr>
        <p:txBody>
          <a:bodyPr>
            <a:noAutofit/>
          </a:bodyPr>
          <a:lstStyle/>
          <a:p>
            <a:r>
              <a:rPr lang="en-US" sz="9600" dirty="0">
                <a:latin typeface="Perpetua Titling MT" panose="02020502060505020804" pitchFamily="18" charset="0"/>
              </a:rPr>
              <a:t>THANK YOU </a:t>
            </a:r>
            <a:endParaRPr lang="en-IN" sz="9600" dirty="0">
              <a:latin typeface="Perpetua Titling MT" panose="020205020605050208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32921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91</TotalTime>
  <Words>638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Abadi</vt:lpstr>
      <vt:lpstr>Abadi Extra Light</vt:lpstr>
      <vt:lpstr>Agency FB</vt:lpstr>
      <vt:lpstr>Aptos Narrow</vt:lpstr>
      <vt:lpstr>Arial</vt:lpstr>
      <vt:lpstr>Century Gothic</vt:lpstr>
      <vt:lpstr>Courier New</vt:lpstr>
      <vt:lpstr>Perpetua Titling MT</vt:lpstr>
      <vt:lpstr>Wingdings</vt:lpstr>
      <vt:lpstr>Wingdings 3</vt:lpstr>
      <vt:lpstr>Wisp</vt:lpstr>
      <vt:lpstr>AI-Powered Sports Athlete Management and Talent Assessment System</vt:lpstr>
      <vt:lpstr>Outline</vt:lpstr>
      <vt:lpstr>Introduction</vt:lpstr>
      <vt:lpstr>Literature Review</vt:lpstr>
      <vt:lpstr>Literature Review</vt:lpstr>
      <vt:lpstr>Problem Statement</vt:lpstr>
      <vt:lpstr>Proposed Solution</vt:lpstr>
      <vt:lpstr>Proposed Solution</vt:lpstr>
      <vt:lpstr>Objectives</vt:lpstr>
      <vt:lpstr>Objectives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Sports Athlete Management and Talent Assessment System</dc:title>
  <dc:creator>priyanshu patro</dc:creator>
  <cp:lastModifiedBy>Devang Sharma [CSE - 2024]</cp:lastModifiedBy>
  <cp:revision>5</cp:revision>
  <dcterms:created xsi:type="dcterms:W3CDTF">2025-10-08T13:09:55Z</dcterms:created>
  <dcterms:modified xsi:type="dcterms:W3CDTF">2026-02-19T04:31:40Z</dcterms:modified>
</cp:coreProperties>
</file>